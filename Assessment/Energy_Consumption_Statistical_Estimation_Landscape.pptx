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118</c:v>
                </c:pt>
                <c:pt idx="1">
                  <c:v>132</c:v>
                </c:pt>
                <c:pt idx="2">
                  <c:v>125</c:v>
                </c:pt>
                <c:pt idx="3">
                  <c:v>148</c:v>
                </c:pt>
                <c:pt idx="4">
                  <c:v>155</c:v>
                </c:pt>
                <c:pt idx="5">
                  <c:v>138</c:v>
                </c:pt>
                <c:pt idx="6">
                  <c:v>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FF-446D-B46F-CDAA95BC3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70"/>
          <c:min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110–124</c:v>
                </c:pt>
                <c:pt idx="1">
                  <c:v>125–139</c:v>
                </c:pt>
                <c:pt idx="2">
                  <c:v>140–154</c:v>
                </c:pt>
                <c:pt idx="3">
                  <c:v>155–169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B-4FEB-B6A6-2A87645C2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066DA-266D-433D-8EA4-3871CAD8C06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47481-4070-43A3-B9DA-CAEFC8A9B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17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47481-4070-43A3-B9DA-CAEFC8A9B64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8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2438"/>
            <a:ext cx="750143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1334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766" y="601355"/>
            <a:ext cx="8046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D77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Statistical Estimation Techniques</a:t>
            </a:r>
          </a:p>
        </p:txBody>
      </p:sp>
      <p:sp>
        <p:nvSpPr>
          <p:cNvPr id="4" name="Oval 3"/>
          <p:cNvSpPr/>
          <p:nvPr/>
        </p:nvSpPr>
        <p:spPr>
          <a:xfrm>
            <a:off x="7453377" y="163430"/>
            <a:ext cx="411480" cy="4114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228332" y="60031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DC8014"/>
                </a:solidFill>
                <a:latin typeface="Apto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67544" y="20116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766" y="1078992"/>
            <a:ext cx="2928340" cy="1463040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" y="1097280"/>
            <a:ext cx="2706624" cy="329184"/>
          </a:xfrm>
          <a:prstGeom prst="roundRect">
            <a:avLst/>
          </a:prstGeom>
          <a:solidFill>
            <a:srgbClr val="1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" y="1143000"/>
            <a:ext cx="248716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1453896"/>
            <a:ext cx="235915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estimation uses sample energy data to estimate the typical consumption of a larger population. It helps convert daily readings into useful evidence for planning, budgeting and conservation.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766" y="2670048"/>
            <a:ext cx="2838474" cy="1920240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8" y="2688336"/>
            <a:ext cx="2706624" cy="329184"/>
          </a:xfrm>
          <a:prstGeom prst="roundRect">
            <a:avLst/>
          </a:prstGeom>
          <a:solidFill>
            <a:srgbClr val="1D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" y="2734056"/>
            <a:ext cx="248716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3035807"/>
            <a:ext cx="2686762" cy="16158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Estimate the average daily energy requirement.
• Measure variation in consumption using sample variance.
• Construct a confidence interval for the population mean.
• Detect unusually high-use periods.
• Support energy-saving and resource-planning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766" y="4700016"/>
            <a:ext cx="2884194" cy="1975104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8328" y="4718303"/>
            <a:ext cx="2706624" cy="329184"/>
          </a:xfrm>
          <a:prstGeom prst="roundRect">
            <a:avLst/>
          </a:prstGeom>
          <a:solidFill>
            <a:srgbClr val="16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" y="4764024"/>
            <a:ext cx="248716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138928"/>
            <a:ext cx="1143000" cy="256032"/>
          </a:xfrm>
          <a:prstGeom prst="rect">
            <a:avLst/>
          </a:prstGeom>
          <a:solidFill>
            <a:srgbClr val="DCF0ED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5175504"/>
            <a:ext cx="1088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67E91"/>
                </a:solidFill>
                <a:latin typeface="Aptos"/>
              </a:rPr>
              <a:t>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5138928"/>
            <a:ext cx="1143000" cy="256032"/>
          </a:xfrm>
          <a:prstGeom prst="rect">
            <a:avLst/>
          </a:prstGeom>
          <a:solidFill>
            <a:srgbClr val="DCF0ED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73352" y="5175504"/>
            <a:ext cx="1088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67E91"/>
                </a:solidFill>
                <a:latin typeface="Aptos"/>
              </a:rPr>
              <a:t>Energy (kWh)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94960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5404104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Mon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5394960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73352" y="5404104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541264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5550408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Tue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5541264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73352" y="5550408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687568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5696712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Wed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5687568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73352" y="5696712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833872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5843016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Thu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5833872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73352" y="5843016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148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80176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5989320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Fri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0" y="5980176"/>
            <a:ext cx="1143000" cy="146304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73352" y="5989320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155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126480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6135624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Sat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6126480"/>
            <a:ext cx="1143000" cy="146304"/>
          </a:xfrm>
          <a:prstGeom prst="rect">
            <a:avLst/>
          </a:prstGeom>
          <a:solidFill>
            <a:srgbClr val="F8FAF9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73352" y="6135624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 dirty="0">
                <a:solidFill>
                  <a:srgbClr val="222A30"/>
                </a:solidFill>
                <a:latin typeface="Aptos"/>
              </a:rPr>
              <a:t>138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272784"/>
            <a:ext cx="11430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6281928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Sun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6272784"/>
            <a:ext cx="11430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673352" y="6281928"/>
            <a:ext cx="10881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0">
                <a:solidFill>
                  <a:srgbClr val="222A30"/>
                </a:solidFill>
                <a:latin typeface="Aptos"/>
              </a:rPr>
              <a:t>144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73552" y="1078992"/>
            <a:ext cx="3877056" cy="1463040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291840" y="1097280"/>
            <a:ext cx="3758184" cy="329184"/>
          </a:xfrm>
          <a:prstGeom prst="roundRect">
            <a:avLst/>
          </a:prstGeom>
          <a:solidFill>
            <a:srgbClr val="5C4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01568" y="1143000"/>
            <a:ext cx="3538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3008" y="1432321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5C4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ESTIMATION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14173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μ̂ = x̄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1644905"/>
            <a:ext cx="32461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sample mean is used as the best single estimate of the population mean.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7649" y="2007894"/>
            <a:ext cx="19171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5C4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INTERVAL ESTIMATION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2066543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x̄ ± t(s/√n)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87649" y="2250201"/>
            <a:ext cx="3246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Gives a plausible range for the true average.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73552" y="2670048"/>
            <a:ext cx="3877056" cy="2121408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291840" y="2688336"/>
            <a:ext cx="3758184" cy="329184"/>
          </a:xfrm>
          <a:prstGeom prst="roundRect">
            <a:avLst/>
          </a:prstGeom>
          <a:solidFill>
            <a:srgbClr val="DC8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401568" y="2734056"/>
            <a:ext cx="3538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ESTIMATION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87649" y="2975473"/>
            <a:ext cx="3337560" cy="1839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size (n) = 7
Total consumption (</a:t>
            </a:r>
            <a:r>
              <a:rPr sz="1100" b="0" dirty="0" err="1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Σx</a:t>
            </a:r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960 kWh
Estimated mean (x̄) = 137.14 kWh
Sample variance (s²) = 170.81 kWh²
Sample standard deviation (s) = 13.07 kWh
95% CI = x̄ ± t(s/√n),  t = 2.447
95% CI = (125.06, 149.23) kWh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73552" y="4928616"/>
            <a:ext cx="3877056" cy="1746504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291840" y="4946903"/>
            <a:ext cx="3758184" cy="329184"/>
          </a:xfrm>
          <a:prstGeom prst="roundRect">
            <a:avLst/>
          </a:prstGeom>
          <a:solidFill>
            <a:srgbClr val="B3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401568" y="4992624"/>
            <a:ext cx="3538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38728" y="5367528"/>
            <a:ext cx="140129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B33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MEAN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7649" y="5806440"/>
            <a:ext cx="15087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5C4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137.14 kWh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0368" y="5367528"/>
            <a:ext cx="1600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B330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 CONFIDENCE INTERVAL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579272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5C41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125.06 – 149.23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78624" y="1078992"/>
            <a:ext cx="4688610" cy="2331720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296912" y="1097280"/>
            <a:ext cx="4517136" cy="329184"/>
          </a:xfrm>
          <a:prstGeom prst="roundRect">
            <a:avLst/>
          </a:prstGeom>
          <a:solidFill>
            <a:srgbClr val="1D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0" y="1143000"/>
            <a:ext cx="4297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ESTIMATION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79792" y="1536192"/>
            <a:ext cx="4264152" cy="15854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Average estimated consumption is 137.14 kWh/day.
• The 95% confidence interval ranges from 125.06 to 149.23 kWh/day.
• Friday records the highest usage at 155 kWh.
• Monday has the lowest usage at 118 kWh.
• Variation is measurable but not extreme, suggesting a fairly stable weekly pattern.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78624" y="3566160"/>
            <a:ext cx="4688610" cy="1417320"/>
          </a:xfrm>
          <a:prstGeom prst="roundRect">
            <a:avLst/>
          </a:prstGeom>
          <a:solidFill>
            <a:srgbClr val="F7FAF8"/>
          </a:solidFill>
          <a:ln w="12700">
            <a:solidFill>
              <a:srgbClr val="E1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296912" y="3584448"/>
            <a:ext cx="4517136" cy="329184"/>
          </a:xfrm>
          <a:prstGeom prst="roundRect">
            <a:avLst/>
          </a:prstGeom>
          <a:solidFill>
            <a:srgbClr val="16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406640" y="3630168"/>
            <a:ext cx="4297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70698" y="3922640"/>
            <a:ext cx="4343350" cy="1077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222A30"/>
                </a:solidFill>
                <a:latin typeface="Aptos"/>
              </a:rPr>
              <a:t>• </a:t>
            </a:r>
            <a:r>
              <a:rPr sz="1100" b="0" dirty="0">
                <a:solidFill>
                  <a:srgbClr val="222A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demand  • Budgeting electricity costs  • Identifying peak-use periods
• Evaluating energy-efficiency programs  • Supporting sustainability targets</a:t>
            </a:r>
          </a:p>
        </p:txBody>
      </p:sp>
      <p:graphicFrame>
        <p:nvGraphicFramePr>
          <p:cNvPr id="79" name="Chart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3976"/>
              </p:ext>
            </p:extLst>
          </p:nvPr>
        </p:nvGraphicFramePr>
        <p:xfrm>
          <a:off x="7260337" y="5513832"/>
          <a:ext cx="2340864" cy="116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0" name="Chart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186757"/>
              </p:ext>
            </p:extLst>
          </p:nvPr>
        </p:nvGraphicFramePr>
        <p:xfrm>
          <a:off x="9601200" y="5567171"/>
          <a:ext cx="2366034" cy="1107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84" name="Picture 14" descr="image.png">
            <a:extLst>
              <a:ext uri="{FF2B5EF4-FFF2-40B4-BE49-F238E27FC236}">
                <a16:creationId xmlns:a16="http://schemas.microsoft.com/office/drawing/2014/main" id="{B25CD68B-9489-D55E-48E0-E28E5EDC9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10" y="180274"/>
            <a:ext cx="775110" cy="888492"/>
          </a:xfrm>
          <a:prstGeom prst="rect">
            <a:avLst/>
          </a:prstGeom>
        </p:spPr>
      </p:pic>
      <p:pic>
        <p:nvPicPr>
          <p:cNvPr id="86" name="Picture 15" descr="image.png">
            <a:extLst>
              <a:ext uri="{FF2B5EF4-FFF2-40B4-BE49-F238E27FC236}">
                <a16:creationId xmlns:a16="http://schemas.microsoft.com/office/drawing/2014/main" id="{4E73DAC2-4A5D-15E2-32FB-8B499FF4A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941" y="190500"/>
            <a:ext cx="1019310" cy="88849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148157D-CD47-030D-F3F5-9648BF434292}"/>
              </a:ext>
            </a:extLst>
          </p:cNvPr>
          <p:cNvSpPr txBox="1"/>
          <p:nvPr/>
        </p:nvSpPr>
        <p:spPr>
          <a:xfrm>
            <a:off x="7859268" y="63329"/>
            <a:ext cx="32086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C Yugesh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192424282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Data Science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DSA0404</a:t>
            </a:r>
          </a:p>
        </p:txBody>
      </p:sp>
      <p:sp>
        <p:nvSpPr>
          <p:cNvPr id="90" name="Rounded Rectangle 64">
            <a:extLst>
              <a:ext uri="{FF2B5EF4-FFF2-40B4-BE49-F238E27FC236}">
                <a16:creationId xmlns:a16="http://schemas.microsoft.com/office/drawing/2014/main" id="{D6DE78BB-75BC-11C7-1FF6-CA37D5A5B9CC}"/>
              </a:ext>
            </a:extLst>
          </p:cNvPr>
          <p:cNvSpPr/>
          <p:nvPr/>
        </p:nvSpPr>
        <p:spPr>
          <a:xfrm>
            <a:off x="7479792" y="5047487"/>
            <a:ext cx="2067609" cy="46634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Consumption</a:t>
            </a:r>
          </a:p>
        </p:txBody>
      </p:sp>
      <p:sp>
        <p:nvSpPr>
          <p:cNvPr id="92" name="Rounded Rectangle 64">
            <a:extLst>
              <a:ext uri="{FF2B5EF4-FFF2-40B4-BE49-F238E27FC236}">
                <a16:creationId xmlns:a16="http://schemas.microsoft.com/office/drawing/2014/main" id="{E547E837-5896-717B-EC6B-6BAA13918B0E}"/>
              </a:ext>
            </a:extLst>
          </p:cNvPr>
          <p:cNvSpPr/>
          <p:nvPr/>
        </p:nvSpPr>
        <p:spPr>
          <a:xfrm>
            <a:off x="9642373" y="5047487"/>
            <a:ext cx="2324861" cy="46634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357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BC Yugesh</dc:creator>
  <cp:keywords/>
  <dc:description>generated using python-pptx</dc:description>
  <cp:lastModifiedBy>BC Yugesh</cp:lastModifiedBy>
  <cp:revision>2</cp:revision>
  <dcterms:created xsi:type="dcterms:W3CDTF">2013-01-27T09:14:16Z</dcterms:created>
  <dcterms:modified xsi:type="dcterms:W3CDTF">2026-08-17T05:02:19Z</dcterms:modified>
  <cp:category/>
</cp:coreProperties>
</file>